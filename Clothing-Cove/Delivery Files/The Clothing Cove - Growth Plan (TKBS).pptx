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8" d="100"/>
          <a:sy n="198" d="100"/>
        </p:scale>
        <p:origin x="124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ln w="3175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M0</c:v>
                </c:pt>
                <c:pt idx="1">
                  <c:v>M1</c:v>
                </c:pt>
                <c:pt idx="2">
                  <c:v>M2</c:v>
                </c:pt>
                <c:pt idx="3">
                  <c:v>M3</c:v>
                </c:pt>
                <c:pt idx="4">
                  <c:v>M4</c:v>
                </c:pt>
                <c:pt idx="5">
                  <c:v>M5</c:v>
                </c:pt>
                <c:pt idx="6">
                  <c:v>M6</c:v>
                </c:pt>
                <c:pt idx="7">
                  <c:v>M7</c:v>
                </c:pt>
                <c:pt idx="8">
                  <c:v>M8</c:v>
                </c:pt>
                <c:pt idx="9">
                  <c:v>M9</c:v>
                </c:pt>
                <c:pt idx="10">
                  <c:v>M10</c:v>
                </c:pt>
                <c:pt idx="11">
                  <c:v>M11</c:v>
                </c:pt>
                <c:pt idx="12">
                  <c:v>M12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100</c:v>
                </c:pt>
                <c:pt idx="1">
                  <c:v>100</c:v>
                </c:pt>
                <c:pt idx="2">
                  <c:v>102</c:v>
                </c:pt>
                <c:pt idx="3">
                  <c:v>102</c:v>
                </c:pt>
                <c:pt idx="4">
                  <c:v>104</c:v>
                </c:pt>
                <c:pt idx="5">
                  <c:v>104</c:v>
                </c:pt>
                <c:pt idx="6">
                  <c:v>105.1</c:v>
                </c:pt>
                <c:pt idx="7">
                  <c:v>106.1</c:v>
                </c:pt>
                <c:pt idx="8">
                  <c:v>107.1</c:v>
                </c:pt>
                <c:pt idx="9">
                  <c:v>107.1</c:v>
                </c:pt>
                <c:pt idx="10">
                  <c:v>107.1</c:v>
                </c:pt>
                <c:pt idx="11">
                  <c:v>108.2</c:v>
                </c:pt>
                <c:pt idx="12">
                  <c:v>108.2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4CF-4A77-B798-E50C9B2112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</c:v>
                </c:pt>
              </c:strCache>
            </c:strRef>
          </c:tx>
          <c:spPr>
            <a:ln w="31750" cap="flat">
              <a:solidFill>
                <a:srgbClr val="00D4A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M0</c:v>
                </c:pt>
                <c:pt idx="1">
                  <c:v>M1</c:v>
                </c:pt>
                <c:pt idx="2">
                  <c:v>M2</c:v>
                </c:pt>
                <c:pt idx="3">
                  <c:v>M3</c:v>
                </c:pt>
                <c:pt idx="4">
                  <c:v>M4</c:v>
                </c:pt>
                <c:pt idx="5">
                  <c:v>M5</c:v>
                </c:pt>
                <c:pt idx="6">
                  <c:v>M6</c:v>
                </c:pt>
                <c:pt idx="7">
                  <c:v>M7</c:v>
                </c:pt>
                <c:pt idx="8">
                  <c:v>M8</c:v>
                </c:pt>
                <c:pt idx="9">
                  <c:v>M9</c:v>
                </c:pt>
                <c:pt idx="10">
                  <c:v>M10</c:v>
                </c:pt>
                <c:pt idx="11">
                  <c:v>M11</c:v>
                </c:pt>
                <c:pt idx="12">
                  <c:v>M12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100</c:v>
                </c:pt>
                <c:pt idx="1">
                  <c:v>101</c:v>
                </c:pt>
                <c:pt idx="2">
                  <c:v>103</c:v>
                </c:pt>
                <c:pt idx="3">
                  <c:v>105.1</c:v>
                </c:pt>
                <c:pt idx="4">
                  <c:v>108.2</c:v>
                </c:pt>
                <c:pt idx="5">
                  <c:v>111.3</c:v>
                </c:pt>
                <c:pt idx="6">
                  <c:v>113.4</c:v>
                </c:pt>
                <c:pt idx="7">
                  <c:v>115.6</c:v>
                </c:pt>
                <c:pt idx="8">
                  <c:v>116.6</c:v>
                </c:pt>
                <c:pt idx="9">
                  <c:v>118.8</c:v>
                </c:pt>
                <c:pt idx="10">
                  <c:v>119.9</c:v>
                </c:pt>
                <c:pt idx="11">
                  <c:v>119.9</c:v>
                </c:pt>
                <c:pt idx="12">
                  <c:v>121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4CF-4A77-B798-E50C9B2112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Strong</c:v>
                </c:pt>
              </c:strCache>
            </c:strRef>
          </c:tx>
          <c:spPr>
            <a:ln w="31750" cap="flat">
              <a:solidFill>
                <a:srgbClr val="1B283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2838"/>
              </a:solidFill>
              <a:ln w="9525" cap="flat">
                <a:solidFill>
                  <a:srgbClr val="1B2838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M0</c:v>
                </c:pt>
                <c:pt idx="1">
                  <c:v>M1</c:v>
                </c:pt>
                <c:pt idx="2">
                  <c:v>M2</c:v>
                </c:pt>
                <c:pt idx="3">
                  <c:v>M3</c:v>
                </c:pt>
                <c:pt idx="4">
                  <c:v>M4</c:v>
                </c:pt>
                <c:pt idx="5">
                  <c:v>M5</c:v>
                </c:pt>
                <c:pt idx="6">
                  <c:v>M6</c:v>
                </c:pt>
                <c:pt idx="7">
                  <c:v>M7</c:v>
                </c:pt>
                <c:pt idx="8">
                  <c:v>M8</c:v>
                </c:pt>
                <c:pt idx="9">
                  <c:v>M9</c:v>
                </c:pt>
                <c:pt idx="10">
                  <c:v>M10</c:v>
                </c:pt>
                <c:pt idx="11">
                  <c:v>M11</c:v>
                </c:pt>
                <c:pt idx="12">
                  <c:v>M12</c:v>
                </c:pt>
              </c:strCache>
            </c:strRef>
          </c:cat>
          <c:val>
            <c:numRef>
              <c:f>Sheet1!$D$2:$D$14</c:f>
              <c:numCache>
                <c:formatCode>General</c:formatCode>
                <c:ptCount val="13"/>
                <c:pt idx="0">
                  <c:v>100</c:v>
                </c:pt>
                <c:pt idx="1">
                  <c:v>102</c:v>
                </c:pt>
                <c:pt idx="2">
                  <c:v>106.1</c:v>
                </c:pt>
                <c:pt idx="3">
                  <c:v>110.2</c:v>
                </c:pt>
                <c:pt idx="4">
                  <c:v>116.6</c:v>
                </c:pt>
                <c:pt idx="5">
                  <c:v>123.2</c:v>
                </c:pt>
                <c:pt idx="6">
                  <c:v>129.9</c:v>
                </c:pt>
                <c:pt idx="7">
                  <c:v>134.5</c:v>
                </c:pt>
                <c:pt idx="8">
                  <c:v>139.1</c:v>
                </c:pt>
                <c:pt idx="9">
                  <c:v>143.80000000000001</c:v>
                </c:pt>
                <c:pt idx="10">
                  <c:v>147.30000000000001</c:v>
                </c:pt>
                <c:pt idx="11">
                  <c:v>149.6</c:v>
                </c:pt>
                <c:pt idx="12">
                  <c:v>150.80000000000001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94CF-4A77-B798-E50C9B2112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5"/>
          <c:min val="95"/>
        </c:scaling>
        <c:delete val="0"/>
        <c:axPos val="l"/>
        <c:majorGridlines>
          <c:spPr>
            <a:ln w="6350" cap="flat">
              <a:solidFill>
                <a:srgbClr val="E2E6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417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457200" y="12344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</a:t>
            </a:r>
            <a:r>
              <a:rPr lang="en-US" sz="2600" b="1" kern="0" spc="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286000" cy="36576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Clothing Cove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Plan — SEO &amp; AEO · Filter &amp; Search Readiness · Projected Impact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June 2026  ·  Milford, MI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 A GLANCE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786384"/>
            <a:ext cx="2194560" cy="1828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051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traffic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~3,000 visits / mo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709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Navigable collections w/o desc.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217920" y="1892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 of 254 (86%)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368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filters live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217920" y="2551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0266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12-mo revenue lift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0" y="32095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+21% (expected)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3685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delivery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17920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weeks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SOLUTIONS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10896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Clothing Cove — Growth Plan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40080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9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SITE FIX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Navigation Bar Flash — Why It Happens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menu occasionally collapses to the left on load, then corrects on refresh. We traced the cause on the live theme.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3716"/>
          </a:xfrm>
          <a:prstGeom prst="rect">
            <a:avLst/>
          </a:prstGeom>
          <a:solidFill>
            <a:srgbClr val="E2E6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" cy="18745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3657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menu is built by a third-party app (Globo Mega Menu), not the theme.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load it replaces the theme's native menu with its own markup via JavaScript.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styling loads separately from Globo's CDN — when that CSS loses the race against the JS, the menu renders as an unstyled list crunched to the left.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874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371600"/>
            <a:ext cx="54864" cy="18745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481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IT'S INTERMITTENT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65760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 load-order race, decided by network and cache timing.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refresh the CSS is already cached, so it applies instantly and the menu looks correct.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loads and slow connections are when the flash appears — hence 'sometimes.'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429000"/>
            <a:ext cx="54864" cy="10972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352044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" y="376732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safely via a duplicated theme → preview → publish, so nothing changes live until it's confirmed.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55371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diagnosed on the live theme — feasible and ready to implement.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SOLUTIONS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0896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Clothing Cove — Growth Plan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40080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9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FILTER &amp; SEARCH READINESS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Only 2 of 6 Expected Filters Are Live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7,709 published live products. A filter is 'fully ready' only with both the shopper-facing option and the normalized metafield that powers a clean facet.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3716"/>
          </a:xfrm>
          <a:prstGeom prst="rect">
            <a:avLst/>
          </a:prstGeom>
          <a:solidFill>
            <a:srgbClr val="E2E6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335014"/>
              </p:ext>
            </p:extLst>
          </p:nvPr>
        </p:nvGraphicFramePr>
        <p:xfrm>
          <a:off x="457200" y="1371600"/>
          <a:ext cx="5394960" cy="24688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Ready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100%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32%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— backfill metafield (Phase 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98748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" pitchFamily="34" charset="-120"/>
                        </a:rPr>
                        <a:t>16%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" pitchFamily="34" charset="-12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— backfill + gaps (Phase 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40246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10%</a:t>
                      </a:r>
                      <a:endParaRPr lang="en-US" sz="1000" kern="1200" dirty="0">
                        <a:solidFill>
                          <a:srgbClr val="F59E0B"/>
                        </a:solidFill>
                        <a:latin typeface="Arial Black" pitchFamily="34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is there but needs work — enable (Phase 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Garment type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n-US" sz="1000" kern="1200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10%</a:t>
                      </a:r>
                      <a:endParaRPr lang="en-US" sz="1000" kern="1200" dirty="0">
                        <a:solidFill>
                          <a:srgbClr val="F59E0B"/>
                        </a:solidFill>
                        <a:latin typeface="Arial Black" pitchFamily="34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is there but needs work — enable (Phase 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Fabric / Material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5%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– via existing descriptions (Phase 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Dress occasion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2%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Proposed — via collections (Phase 3)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371600"/>
            <a:ext cx="2651760" cy="3154680"/>
          </a:xfrm>
          <a:prstGeom prst="rect">
            <a:avLst/>
          </a:prstGeom>
          <a:solidFill>
            <a:srgbClr val="1B2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035040" y="1371600"/>
            <a:ext cx="265176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17920" y="1536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HEADLINE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1828800"/>
            <a:ext cx="2331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and Color are the conversion-critical filters.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products already let shoppers select size and color — the gap is the normalized metafield that powers a clean filter.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a structured-data task done in batches, not a per-product rebuild.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6576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SOLUTIONS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10896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Clothing Cove — Growth Plan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640080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9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PROJECTED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Levers That Multiply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conservatively from a 3,000 organic-sessions/mo baseline. Illustrative scenario shapes — with no GSC/GA4 baseline yet, Phase 0 sets and re-calibrates the real targets.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3716"/>
          </a:xfrm>
          <a:prstGeom prst="rect">
            <a:avLst/>
          </a:prstGeom>
          <a:solidFill>
            <a:srgbClr val="E2E6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+12%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Organic traffic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(Track A — SEO/AEO)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1444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+8%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560320" y="1847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session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(Track B — Filters)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444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 +21%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617720" y="1847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revenue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(expected, M12)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29400" y="1371600"/>
            <a:ext cx="2057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9400" y="144475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+8→51%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675120" y="18470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 across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514600"/>
            <a:ext cx="54864" cy="14173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 — SEO / AEO drives TRAFFIC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2971800"/>
            <a:ext cx="3657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collection + product content, schema, and AI-answer readiness pull more organic sessions.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as a cumulative lift on the 3,000/mo baseline.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514600"/>
            <a:ext cx="40233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2514600"/>
            <a:ext cx="54864" cy="141732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— FILTERS drive CONVERSION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971800"/>
            <a:ext cx="3657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Color/size/material filters + on-site search help the people already arriving find and buy.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as revenue-per-session uplift — the more controllable of the two levers.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is shown as an index (base 100) — the Orders API was not granted at audit, so no baseline AOV. </a:t>
            </a:r>
            <a:r>
              <a:rPr lang="en-US" sz="95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the index by (current monthly revenue ÷ 100) to dollarize.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SOLUTIONS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0896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Clothing Cove — Growth Plan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40080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9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PROJECTED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12-Month Revenue Index &amp; Delivery Paths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revenue index by scenario, and the three ways to deliver the same foundation scope.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3716"/>
          </a:xfrm>
          <a:prstGeom prst="rect">
            <a:avLst/>
          </a:prstGeom>
          <a:solidFill>
            <a:srgbClr val="E2E6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457200" y="1371600"/>
          <a:ext cx="52120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943600" y="13716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TAKES — SAME OUTCOME, THREE PATHS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0" y="169164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943600" y="1691640"/>
            <a:ext cx="54864" cy="8686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80760" y="17556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In-house (your team)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80760" y="19659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~13–22 months  ·  </a:t>
            </a: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$10,120–16,808 wages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80760" y="21671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staff off the floor; historically stalls.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943600" y="2651760"/>
            <a:ext cx="27432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0" y="265176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27157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 agency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2926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~2–4 months  ·  </a:t>
            </a: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$23,750–39,000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80760" y="31272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rates, same hands-on work.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943600" y="3611880"/>
            <a:ext cx="2743200" cy="868680"/>
          </a:xfrm>
          <a:prstGeom prst="rect">
            <a:avLst/>
          </a:prstGeom>
          <a:solidFill>
            <a:srgbClr val="1B2838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943600" y="3611880"/>
            <a:ext cx="54864" cy="8686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080760" y="36758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TKBS (us)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080760" y="38862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weeks  ·  $12,000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080760" y="40873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than in-house, a fraction of agency — your team stays selling.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6576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SOLUTIONS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10896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Clothing Cove — Growth Plan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40080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9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&amp; AEO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Content Gap Holding Back Rankings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catalog is strong; discoverability hasn't kept up. The category and brand pages that should rank have no text for Google — or AI — to read.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3716"/>
          </a:xfrm>
          <a:prstGeom prst="rect">
            <a:avLst/>
          </a:prstGeom>
          <a:solidFill>
            <a:srgbClr val="E2E6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86%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02920" y="1847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Navigable collections w/o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 (218 of 254)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514600" y="13716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14600" y="1444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59%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2560320" y="1847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In-stock products on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SEO title (4,579)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9202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4447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617720" y="18470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In-stock products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untagged (7,365)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629400" y="1371600"/>
            <a:ext cx="205740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29400" y="144475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Apr '23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6675120" y="184708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blog post —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fresh to cite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4023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514600"/>
            <a:ext cx="54864" cy="1920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— WHY IT MATTERS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2971800"/>
            <a:ext cx="3657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pages are what Google &amp; AI read to learn what the store sells — 218 of 254 navigable collections have no description (the real content gap).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 live products have no description at all — invisible to search and AI.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 of 6 filters live (no Color/Size/Brand facets).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514600"/>
            <a:ext cx="4023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6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663440" y="2514600"/>
            <a:ext cx="54864" cy="192024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0" y="2624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FIXED (LIVE, JUNE 11)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971800"/>
            <a:ext cx="365760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SEO work published live (was sitting on an unpublished theme).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title, H1 &amp; meta now keyworded + location-aware.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ClothingStore + FAQ JSON-LD added; store hours verified &amp; consistent.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6576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SOLUTIONS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Clothing Cove — Growth Plan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40080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9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00D4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SEO &amp; AEO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0233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Fix Roadmap — Highest-Value First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what exists, then the category content that drives rankings, then catalog-wide depth. AEO readiness is built in throughout.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3716"/>
          </a:xfrm>
          <a:prstGeom prst="rect">
            <a:avLst/>
          </a:prstGeom>
          <a:solidFill>
            <a:srgbClr val="E2E6EB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688336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P1 ✓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Publish/port theme SEO work to live theme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Theme only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 — live June 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D4AA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P1 ✓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Homepage title, meta &amp; H1 (keyword + location)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elements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Done — live June 11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P2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 descriptions for navigable category &amp; brand pages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 collections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real content gap — start here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P2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 titles + meta descriptions for live products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4,579 / 2,797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Catalog hygiene at scale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P3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 live products (filtering + AI taxonomy)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7,365 products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Feeds filters &amp; AI category signals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P3</a:t>
                      </a:r>
                      <a:endParaRPr lang="en-US" sz="9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B28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descriptions (missing + thin) + alt text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 + 541 / 842 img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Indexable + AI-recommendable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2245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AEO readiness rides along: collection descriptions + schema + a revived blog are what make the store legible and citable to ChatGPT, Perplexity &amp; Google AI Overviews.</a:t>
            </a:r>
            <a:endParaRPr lang="en-US" sz="900" dirty="0"/>
          </a:p>
        </p:txBody>
      </p:sp>
      <p:sp>
        <p:nvSpPr>
          <p:cNvPr id="7" name="Shape 6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6576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SOLUTIONS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10896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Clothing Cove — Growth Plan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40080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9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/>
          <p:nvPr/>
        </p:nvSpPr>
        <p:spPr>
          <a:xfrm>
            <a:off x="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Recommended Next Step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foundation — diagnostics, high-value category content, and all six core filters in ~4 weeks, with tracking that proves the lift before any full-catalog enrichment.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2697480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448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57400" y="267919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Search Console + GA4 and capture the 16-month baseline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554480" y="3246120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057400" y="322783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the navbar fix and enable the ready filters (Brand, Garment type)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3794760"/>
            <a:ext cx="347472" cy="347472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54480" y="3794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057400" y="3776472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category &amp; brand page content, then backfill Size &amp; Color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2A3A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343399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Josh Horsley  ·  info@tkbsmarketing.com  ·  248-891-7144  ·  tkbsmarketing.com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r>
              <a:rPr lang="en-US" sz="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</a:t>
            </a: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BUSINESS SOLUTIONS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08960" y="4754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Clothing Cove — Growth Plan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00800" y="4754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1274</Words>
  <Application>Microsoft Office PowerPoint</Application>
  <PresentationFormat>On-screen Show (16:9)</PresentationFormat>
  <Paragraphs>194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TKBS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Clothing Cove — Growth Plan</dc:title>
  <dc:subject>PptxGenJS Presentation</dc:subject>
  <dc:creator>Turnkey Business Solutions</dc:creator>
  <cp:lastModifiedBy>Josh Horsley</cp:lastModifiedBy>
  <cp:revision>3</cp:revision>
  <dcterms:created xsi:type="dcterms:W3CDTF">2026-06-17T17:10:21Z</dcterms:created>
  <dcterms:modified xsi:type="dcterms:W3CDTF">2026-06-17T17:53:45Z</dcterms:modified>
</cp:coreProperties>
</file>